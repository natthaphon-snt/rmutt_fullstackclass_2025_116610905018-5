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  <p:embeddedFont>
      <p:font typeface="Noto Sans Thai" panose="020B0604020202020204" charset="-34"/>
      <p:regular r:id="rId21"/>
      <p:bold r:id="rId22"/>
    </p:embeddedFont>
    <p:embeddedFont>
      <p:font typeface="Noto Sans Thai SemiBold" panose="020B0604020202020204" charset="-34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A782D6-596F-4F68-851E-6A38031CD4B7}">
  <a:tblStyle styleId="{A7A782D6-596F-4F68-851E-6A38031CD4B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5b33b438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5b33b438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5b33b438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5b33b438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express.js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23950" y="1877466"/>
            <a:ext cx="104013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EA5E9"/>
                </a:solidFill>
                <a:latin typeface="Noto Sans Thai SemiBold"/>
                <a:ea typeface="Noto Sans Thai SemiBold"/>
                <a:cs typeface="Noto Sans Thai SemiBold"/>
                <a:sym typeface="Noto Sans Thai SemiBold"/>
              </a:rPr>
              <a:t>RMUTT CLASS OF 2025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23950" y="2355502"/>
            <a:ext cx="10921365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โครงการพัฒนาเว็บแอปพลิเคชัน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Full Stack Development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23950" y="4056608"/>
            <a:ext cx="104013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4748B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การประยุกต์ใช้เทคโนโลยีสมัยใหม่ในการพัฒนาซอฟต์แวร์ระดับองค์กรแบบครบวงจร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23950" y="4677519"/>
            <a:ext cx="10401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8A"/>
                </a:solidFill>
                <a:latin typeface="Noto Sans Thai SemiBold"/>
                <a:ea typeface="Noto Sans Thai SemiBold"/>
                <a:cs typeface="Noto Sans Thai SemiBold"/>
                <a:sym typeface="Noto Sans Thai SemiBold"/>
              </a:rPr>
              <a:t> Repository: Natthaphon-SNT / rmutt_fullstackclass_2025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3950" y="4715619"/>
            <a:ext cx="16192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619750" y="3390900"/>
            <a:ext cx="9525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710701" y="2198839"/>
            <a:ext cx="47706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คณะผู้จัดทำโครงการ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3000375" y="3893939"/>
            <a:ext cx="6191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ทีมงานของเราประกอบไปด้วยนักศึกษาผู้มีความเชี่ยวชาญในแต่ละด้าน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ร่วมกันพัฒนาโปรเจกต์นี้ตั้งแต่การออกแบบโครงสร้างไปจนถึงการใช้งานจริง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15"/>
          <p:cNvGraphicFramePr/>
          <p:nvPr/>
        </p:nvGraphicFramePr>
        <p:xfrm>
          <a:off x="676275" y="1338445"/>
          <a:ext cx="10839425" cy="4550350"/>
        </p:xfrm>
        <a:graphic>
          <a:graphicData uri="http://schemas.openxmlformats.org/drawingml/2006/table">
            <a:tbl>
              <a:tblPr firstRow="1" bandRow="1">
                <a:noFill/>
                <a:tableStyleId>{A7A782D6-596F-4F68-851E-6A38031CD4B7}</a:tableStyleId>
              </a:tblPr>
              <a:tblGrid>
                <a:gridCol w="216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รหัสนักศึกษา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ชื่อ - นามสกุล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ตำแหน่ง / หน้าที่หลัก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ความรับผิดชอบหลัก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116710905123-1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นายไทยรัฐ อังชุน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EA5E9"/>
                          </a:solidFill>
                          <a:latin typeface="Noto Sans Thai SemiBold"/>
                          <a:ea typeface="Noto Sans Thai SemiBold"/>
                          <a:cs typeface="Noto Sans Thai SemiBold"/>
                          <a:sym typeface="Noto Sans Thai SemiBold"/>
                        </a:rPr>
                        <a:t>Full Stack Developer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Lead Project / Database Design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116610905023-5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นายภูมิภัทร</a:t>
                      </a: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อินทร์ปาน</a:t>
                      </a:r>
                      <a:endParaRPr b="1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Frontend Developer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UI/UX Design / React.js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116610905003-4</a:t>
                      </a:r>
                      <a:endParaRPr sz="1200" b="1">
                        <a:solidFill>
                          <a:srgbClr val="475569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 err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นายทวีชัย</a:t>
                      </a: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ศรีวิชัย</a:t>
                      </a:r>
                      <a:endParaRPr sz="1200" b="1" dirty="0">
                        <a:solidFill>
                          <a:srgbClr val="475569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Frontend Developer</a:t>
                      </a:r>
                      <a:endParaRPr sz="1200" b="0" i="0" u="none" strike="noStrike" cap="none">
                        <a:solidFill>
                          <a:srgbClr val="475569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UI/UX Design / React.js</a:t>
                      </a:r>
                      <a:endParaRPr sz="1200" b="0" i="0" u="none" strike="noStrike" cap="none">
                        <a:solidFill>
                          <a:srgbClr val="475569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116610905009-4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นายนฤบดี มุกดากุล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Backend Developer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API Gateway / Node.js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116610905024-3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นายธนรัตน์ แสนอ่อน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Database Administrator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Data Modeling / Query Optimization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116610905018-5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นายณัฐภณ ศรีนุต</a:t>
                      </a:r>
                      <a:endParaRPr b="1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DevOps / Tester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475569"/>
                          </a:solidFill>
                          <a:latin typeface="Noto Sans Thai"/>
                          <a:ea typeface="Noto Sans Thai"/>
                          <a:cs typeface="Noto Sans Thai"/>
                          <a:sym typeface="Noto Sans Thai"/>
                        </a:rPr>
                        <a:t>Deployment / Quality Assurance</a:t>
                      </a:r>
                      <a:endParaRPr sz="1200" dirty="0">
                        <a:solidFill>
                          <a:srgbClr val="475569"/>
                        </a:solidFill>
                        <a:latin typeface="Noto Sans Thai"/>
                        <a:ea typeface="Noto Sans Thai"/>
                        <a:cs typeface="Noto Sans Thai"/>
                        <a:sym typeface="Noto Sans Thai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4" name="Google Shape;104;p15"/>
          <p:cNvSpPr/>
          <p:nvPr/>
        </p:nvSpPr>
        <p:spPr>
          <a:xfrm>
            <a:off x="676275" y="5466308"/>
            <a:ext cx="21678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2844105" y="5466308"/>
            <a:ext cx="325174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6095851" y="5466308"/>
            <a:ext cx="27098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8805713" y="5466308"/>
            <a:ext cx="27100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395250" y="4758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รายชื่อสมาชิกในทีม (Team Members)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395250" y="483300"/>
            <a:ext cx="1140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1100"/>
              <a:buNone/>
            </a:pPr>
            <a:r>
              <a:rPr lang="en-US" sz="2800" b="1">
                <a:solidFill>
                  <a:srgbClr val="1E3A8A"/>
                </a:solidFill>
              </a:rPr>
              <a:t>ภาพรวมโครงการ (Project Overview)</a:t>
            </a:r>
            <a:endParaRPr sz="2800">
              <a:solidFill>
                <a:srgbClr val="1E3A8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66750" y="2053679"/>
            <a:ext cx="5143500" cy="3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ที่มาของระบบ:</a:t>
            </a:r>
            <a:endParaRPr sz="135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พัฒนาระบบจัดการมหาวิทยาลัยแบบรวมศูนย์ (UMS) เพื่อยกระดับและอำนวยความสะดวกในการจัดการข้อมูลทางการศึกษา ทั้งในส่วนของบุคลากร นักศึกษา รายวิชา และระบบห้องสมุด ให้เชื่อมโยงกันอย่างมีประสิทธิภาพ</a:t>
            </a:r>
            <a:endParaRPr sz="135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	Target Users:</a:t>
            </a:r>
            <a:endParaRPr sz="135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457200" marR="0" lvl="0" indent="4572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ผู้ดูแลระบบ (Admin), อาจารย์ (Professor), และ นักศึกษา      (Student)</a:t>
            </a:r>
            <a:endParaRPr sz="135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	Main Goal:</a:t>
            </a:r>
            <a:endParaRPr sz="135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457200" marR="0" lvl="0" indent="4572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สร้างแอปพลิเคชัน Full-Stack ที่ปลอดภัย ใช้งานง่าย และรองรับกระบวนการทำงานจริงในมหาวิทยาลัย</a:t>
            </a:r>
            <a:endParaRPr sz="135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9400" y="1602275"/>
            <a:ext cx="5248750" cy="410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2075" y="381476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2075" y="4799141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395250" y="483300"/>
            <a:ext cx="11401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1100"/>
              <a:buNone/>
            </a:pPr>
            <a:r>
              <a:rPr lang="en-US" sz="2800" b="1">
                <a:solidFill>
                  <a:srgbClr val="1E3A8A"/>
                </a:solidFill>
              </a:rPr>
              <a:t>ฟีเจอร์การทำงานหลัก (Core Features)</a:t>
            </a:r>
            <a:endParaRPr sz="2800">
              <a:solidFill>
                <a:srgbClr val="1E3A8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25" name="Google Shape;12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005012"/>
            <a:ext cx="342900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005012"/>
            <a:ext cx="342900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005012"/>
            <a:ext cx="342900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781350" y="2743200"/>
            <a:ext cx="319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Role-based Dashboards</a:t>
            </a:r>
            <a:endParaRPr sz="2000" b="1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4496100" y="2420100"/>
            <a:ext cx="319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Course &amp; Grade Management</a:t>
            </a:r>
            <a:endParaRPr sz="2000" b="1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210850" y="2420100"/>
            <a:ext cx="3199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Library System Integration</a:t>
            </a:r>
            <a:endParaRPr sz="2000" b="1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052400" y="3456800"/>
            <a:ext cx="2657700" cy="2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ระบบแยกหน้าจอการใช้งานตามสิทธิ์อย่างชัดเจน (Admin, Professor, Student) พร้อมระบบ Secure Authentication ด้วย JWT Token</a:t>
            </a:r>
            <a:endParaRPr sz="1350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767150" y="3456800"/>
            <a:ext cx="2657700" cy="2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จัดการรายวิชา (Courses) การลงทะเบียนเรียนของนักศึกษา (Enrollments) และระบบบันทึกผลการเรียน/ตัดเกรด (Grades) แบบ Real-time</a:t>
            </a:r>
            <a:endParaRPr sz="1350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8481900" y="3456800"/>
            <a:ext cx="2657700" cy="2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รวมระบบจัดการห้องสมุดเข้าไว้ด้วยกัน สามารถจัดการทรัพยากรหนังสือ (Library Books) พร้อมทั้งมีระบบ System Logs เพื่อตรวจสอบความเคลื่อนไหว</a:t>
            </a:r>
            <a:endParaRPr sz="1350">
              <a:solidFill>
                <a:schemeClr val="dk1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005000"/>
            <a:ext cx="481895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5200" y="2005000"/>
            <a:ext cx="421005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914400" y="2512212"/>
            <a:ext cx="318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 Development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66775" y="3057637"/>
            <a:ext cx="3029100" cy="19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ส่วนติดต่อผู้ใช้งานพัฒนาในรูปแบบ Single Page Application (SPA)</a:t>
            </a:r>
            <a:endParaRPr sz="1525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25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45720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Framework: Angular 17</a:t>
            </a:r>
            <a:endParaRPr sz="1525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45720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Styling: Tailwind CSS</a:t>
            </a:r>
            <a:endParaRPr sz="1525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45720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UI Components: DaisyUI</a:t>
            </a:r>
            <a:endParaRPr sz="1525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7543800" y="2512212"/>
            <a:ext cx="318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&amp; Database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543800" y="3057625"/>
            <a:ext cx="3882600" cy="26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ระบบประมวลผลหลังบ้านที่แข็งแกร่งและฐานข้อมูลเชิงสัมพันธ์</a:t>
            </a:r>
            <a:endParaRPr sz="1525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25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45720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Server: Node.js &amp; </a:t>
            </a:r>
            <a:r>
              <a:rPr lang="en-US" sz="1525" u="sng">
                <a:solidFill>
                  <a:schemeClr val="hlink"/>
                </a:solidFill>
                <a:latin typeface="Noto Sans Thai"/>
                <a:ea typeface="Noto Sans Thai"/>
                <a:cs typeface="Noto Sans Thai"/>
                <a:sym typeface="Noto Sans Thai"/>
                <a:hlinkClick r:id="rId6"/>
              </a:rPr>
              <a:t>Express.js</a:t>
            </a:r>
            <a:endParaRPr sz="1525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45720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Database: MySQL (ใช้งานผ่านไลบรารี mysql2)</a:t>
            </a:r>
            <a:endParaRPr sz="1525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45720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5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Security: bcrypt (เข้ารหัสผ่าน) &amp; jsonwebtoken (JWT)</a:t>
            </a:r>
            <a:endParaRPr sz="1525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95250" y="4758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เทคโนโลยีที่เลือกใช้ (Tech Stack)</a:t>
            </a:r>
            <a:endParaRPr/>
          </a:p>
        </p:txBody>
      </p:sp>
      <p:pic>
        <p:nvPicPr>
          <p:cNvPr id="146" name="Google Shape;14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11925" y="414921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1175" y="449799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11925" y="484676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84025" y="414921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84025" y="449799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84025" y="5200841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82229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666750" y="2053679"/>
            <a:ext cx="5143500" cy="299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Entity Relationship Schema</a:t>
            </a:r>
            <a:endParaRPr sz="1350" dirty="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ฐานข้อมูลถูกออกแบบแบบ</a:t>
            </a:r>
            <a:r>
              <a:rPr lang="en-US" sz="1350" dirty="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Relational Database </a:t>
            </a:r>
            <a:r>
              <a:rPr lang="en-US" sz="1350" dirty="0" err="1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เพื่อรองรับความสัมพันธ์ของข้อมูลทางการศึกษาที่ซับซ้อน</a:t>
            </a:r>
            <a:endParaRPr sz="1350" dirty="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dirty="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ตารางหลักที่สำคัญ</a:t>
            </a:r>
            <a:r>
              <a:rPr lang="en-US" sz="1350" dirty="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(Core Tables):</a:t>
            </a:r>
            <a:endParaRPr sz="1350" dirty="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4572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users &amp; departments: </a:t>
            </a:r>
            <a:r>
              <a:rPr lang="en-US" sz="1350" dirty="0" err="1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โครงสร้างบุคลากรและคณะ</a:t>
            </a:r>
            <a:endParaRPr sz="1350" dirty="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4572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courses &amp; enrollments: </a:t>
            </a:r>
            <a:r>
              <a:rPr lang="en-US" sz="1350" dirty="0" err="1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ตารางวิชาและการลงทะเบียนเรียน</a:t>
            </a:r>
            <a:endParaRPr sz="1350" dirty="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4572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grades: </a:t>
            </a:r>
            <a:r>
              <a:rPr lang="en-US" sz="1350" dirty="0" err="1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บันทึกผลการเรียนของนักศึกษาแต่ละวิชา</a:t>
            </a:r>
            <a:endParaRPr sz="1350" dirty="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         </a:t>
            </a:r>
            <a:r>
              <a:rPr lang="en-US" sz="1350" dirty="0" err="1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library_books</a:t>
            </a:r>
            <a:r>
              <a:rPr lang="en-US" sz="1350" dirty="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 &amp; </a:t>
            </a:r>
            <a:r>
              <a:rPr lang="en-US" sz="1350" dirty="0" err="1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system_logs</a:t>
            </a:r>
            <a:r>
              <a:rPr lang="en-US" sz="1350" dirty="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: </a:t>
            </a:r>
            <a:r>
              <a:rPr lang="en-US" sz="1350" dirty="0" err="1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คลังหนังสือและประวัติการใช้ระบบ</a:t>
            </a:r>
            <a:endParaRPr sz="1350" dirty="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</p:txBody>
      </p:sp>
      <p:pic>
        <p:nvPicPr>
          <p:cNvPr id="159" name="Google Shape;15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82229"/>
            <a:ext cx="5143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395250" y="4758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การออกแบบฐานข้อมูล</a:t>
            </a:r>
            <a:endParaRPr/>
          </a:p>
        </p:txBody>
      </p:sp>
      <p:pic>
        <p:nvPicPr>
          <p:cNvPr id="161" name="Google Shape;16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162" y="381476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2474" y="414264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0338" y="447487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162" y="4760072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152650"/>
            <a:ext cx="3429000" cy="357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2152650"/>
            <a:ext cx="3429000" cy="357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152650"/>
            <a:ext cx="3429000" cy="35717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1009650" y="3228975"/>
            <a:ext cx="29280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Secure Login (JWT)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1009650" y="3838575"/>
            <a:ext cx="27432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ระบบเข้าสู่ระบบที่ปลอดภัย มีการตรวจสอบสิทธิ์และแยกเส้นทาง (Routing) อัตโนมัติตามประเภทบัญชี (Role-based)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4724400" y="3228975"/>
            <a:ext cx="29652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Dynamic Dashboards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724400" y="3838575"/>
            <a:ext cx="27432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หน้าสรุปภาพรวมแตกต่างกันตามผู้ใช้งาน เช่น Admin เห็นสถิติรวม ในขณะที่ Student เห็นตารางเรียนและเกรดเฉลี่ย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439150" y="3228975"/>
            <a:ext cx="30150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Academic Operations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8439150" y="3838575"/>
            <a:ext cx="27432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ระบบจัดการหลังบ้านครบเครื่องทั้ง Create, Read, Update, Delete สำหรับรายวิชา ข้อมูลผู้ใช้ และหนังสือในห้องสมุด</a:t>
            </a:r>
            <a:endParaRPr/>
          </a:p>
        </p:txBody>
      </p:sp>
      <p:pic>
        <p:nvPicPr>
          <p:cNvPr id="179" name="Google Shape;17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" y="259080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24400" y="25908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39150" y="2590800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395238" y="4758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ส่วนต่อประสานผู้ใช้ (Workflows &amp; UI)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666750" y="3052613"/>
            <a:ext cx="47529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100%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66750" y="4481363"/>
            <a:ext cx="47529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EA5E9"/>
                </a:solidFill>
                <a:latin typeface="Noto Sans Thai SemiBold"/>
                <a:ea typeface="Noto Sans Thai SemiBold"/>
                <a:cs typeface="Noto Sans Thai SemiBold"/>
                <a:sym typeface="Noto Sans Thai SemiBold"/>
              </a:rPr>
              <a:t>ความคืบหน้าของฟีเจอร์หลัก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381750" y="2795587"/>
            <a:ext cx="54006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ความสำเร็จของทีมงาน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381750" y="3348037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ด้วยการทำงานร่วมกันอย่างมีระบบของสมาชิกทุกคนในทีม ทำให้โครงงานนี้สามารถพัฒนาฟังก์ชันหลักต่างๆ ออกมาได้อย่างสมบูรณ์แบบ ตรงตามขอบเขตและเป้าหมายของรายวิชา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6381750" y="4361408"/>
            <a:ext cx="51435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การผสานรวมหน้าบ้านและหลังบ้าน (Integration) เสร็จสิ้นและผ่านการทดสอบคุณภาพ (QA) เป็นที่เรียบร้อย พร้อมสำหรับการนำเสนอและใช้งานจริง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395288" y="924425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บทสรุปโครงงาน (Project Summary)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0900" y="4538435"/>
            <a:ext cx="561022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395287" y="1979265"/>
            <a:ext cx="1140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Live Demo &amp; Q&amp;A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66750" y="3360390"/>
            <a:ext cx="10858500" cy="7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สาธิตการทำงานจริงของระบบ University Management System</a:t>
            </a:r>
            <a:endParaRPr sz="1800">
              <a:solidFill>
                <a:srgbClr val="475569"/>
              </a:solidFill>
              <a:latin typeface="Noto Sans Thai"/>
              <a:ea typeface="Noto Sans Thai"/>
              <a:cs typeface="Noto Sans Thai"/>
              <a:sym typeface="Noto Sans Thai"/>
            </a:endParaRP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Noto Sans Thai"/>
                <a:ea typeface="Noto Sans Thai"/>
                <a:cs typeface="Noto Sans Thai"/>
                <a:sym typeface="Noto Sans Thai"/>
              </a:rPr>
              <a:t>ขอขอบพระคุณอาจารย์และทุกท่านที่รับฟังการนำเสนอ</a:t>
            </a:r>
            <a:endParaRPr/>
          </a:p>
        </p:txBody>
      </p:sp>
      <p:pic>
        <p:nvPicPr>
          <p:cNvPr id="202" name="Google Shape;20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74037" y="4724173"/>
            <a:ext cx="16192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</Words>
  <Application>Microsoft Office PowerPoint</Application>
  <PresentationFormat>Widescreen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Noto Sans Thai SemiBold</vt:lpstr>
      <vt:lpstr>Inter</vt:lpstr>
      <vt:lpstr>Inter SemiBold</vt:lpstr>
      <vt:lpstr>Calibri</vt:lpstr>
      <vt:lpstr>Arial</vt:lpstr>
      <vt:lpstr>Noto Sans Thai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ณัฐภณ  ศรีนุต</cp:lastModifiedBy>
  <cp:revision>1</cp:revision>
  <dcterms:modified xsi:type="dcterms:W3CDTF">2026-03-13T17:40:10Z</dcterms:modified>
</cp:coreProperties>
</file>